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식량 구성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515"/>
              </a:solidFill>
              <a:effectLst/>
            </c:spPr>
          </c:dPt>
          <c:dPt>
            <c:idx val="1"/>
            <c:bubble3D val="0"/>
            <c:spPr>
              <a:solidFill>
                <a:srgbClr val="C2410C"/>
              </a:solidFill>
              <a:effectLst/>
            </c:spPr>
          </c:dPt>
          <c:dPt>
            <c:idx val="2"/>
            <c:bubble3D val="0"/>
            <c:spPr>
              <a:solidFill>
                <a:srgbClr val="2F7D4F"/>
              </a:solidFill>
              <a:effectLst/>
            </c:spPr>
          </c:dPt>
          <c:dPt>
            <c:idx val="3"/>
            <c:bubble3D val="0"/>
            <c:spPr>
              <a:solidFill>
                <a:srgbClr val="C8102E"/>
              </a:solidFill>
              <a:effectLst/>
            </c:spPr>
          </c:dPt>
          <c:dPt>
            <c:idx val="4"/>
            <c:bubble3D val="0"/>
            <c:spPr>
              <a:solidFill>
                <a:srgbClr val="E0A92E"/>
              </a:solidFill>
              <a:effectLst/>
            </c:spPr>
          </c:dPt>
          <c:dPt>
            <c:idx val="5"/>
            <c:bubble3D val="0"/>
            <c:spPr>
              <a:solidFill>
                <a:srgbClr val="F4C430"/>
              </a:solidFill>
              <a:effectLst/>
            </c:spPr>
          </c:dPt>
          <c:dPt>
            <c:idx val="6"/>
            <c:bubble3D val="0"/>
            <c:spPr>
              <a:solidFill>
                <a:srgbClr val="B6A98F"/>
              </a:solidFill>
              <a:effectLst/>
            </c:spPr>
          </c:dPt>
          <c:dPt>
            <c:idx val="7"/>
            <c:bubble3D val="0"/>
            <c:spPr>
              <a:solidFill>
                <a:srgbClr val="6B7280"/>
              </a:solidFill>
              <a:effectLst/>
            </c:spPr>
          </c:dPt>
          <c:dPt>
            <c:idx val="8"/>
            <c:bubble3D val="0"/>
            <c:spPr>
              <a:solidFill>
                <a:srgbClr val="A8A29E"/>
              </a:solidFill>
              <a:effectLst/>
            </c:spPr>
          </c:dPt>
          <c:dPt>
            <c:idx val="9"/>
            <c:bubble3D val="0"/>
            <c:spPr>
              <a:solidFill>
                <a:srgbClr val="D6D3C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옥수수</c:v>
                </c:pt>
                <c:pt idx="1">
                  <c:v>수수</c:v>
                </c:pt>
                <c:pt idx="2">
                  <c:v>콩</c:v>
                </c:pt>
                <c:pt idx="3">
                  <c:v>영양실조 치료식</c:v>
                </c:pt>
                <c:pt idx="4">
                  <c:v>밀</c:v>
                </c:pt>
                <c:pt idx="5">
                  <c:v>식용유</c:v>
                </c:pt>
                <c:pt idx="6">
                  <c:v>쌀</c:v>
                </c:pt>
                <c:pt idx="7">
                  <c:v>식량 키트</c:v>
                </c:pt>
                <c:pt idx="8">
                  <c:v>기타</c:v>
                </c:pt>
                <c:pt idx="9">
                  <c:v>소금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2947.3</c:v>
                </c:pt>
                <c:pt idx="1">
                  <c:v>2808.5</c:v>
                </c:pt>
                <c:pt idx="2">
                  <c:v>1278.6</c:v>
                </c:pt>
                <c:pt idx="3">
                  <c:v>998.1</c:v>
                </c:pt>
                <c:pt idx="4">
                  <c:v>828</c:v>
                </c:pt>
                <c:pt idx="5">
                  <c:v>461.7</c:v>
                </c:pt>
                <c:pt idx="6">
                  <c:v>357.1</c:v>
                </c:pt>
                <c:pt idx="7">
                  <c:v>349.9</c:v>
                </c:pt>
                <c:pt idx="8">
                  <c:v>125.6</c:v>
                </c:pt>
                <c:pt idx="9">
                  <c:v>80.3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A3A3A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집행률</c:v>
                </c:pt>
              </c:strCache>
            </c:strRef>
          </c:tx>
          <c:spPr>
            <a:solidFill>
              <a:srgbClr val="FF551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11222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51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식량 배분</c:v>
                  </c:pt>
                  <c:pt idx="1">
                    <c:v>현금·교환권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48.4</c:v>
                </c:pt>
                <c:pt idx="1">
                  <c:v>47.7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11222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EE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dev/food-crisis-dashboard/public/hero/hero-pos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22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111222">
              <a:alpha val="4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4160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WORLD VISION  ✕  WFP   ·   다자기구협력사업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13232" y="45262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글로벌 식량위기 대응사업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5440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D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결과보고  ·  FINAL REPORT 2025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D7D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13개국  ·  20개 사업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0" y="640080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World Vision / Jon Warren · Ethiopia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보는 성과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3F2F0"/>
          </a:solidFill>
          <a:ln w="12700">
            <a:solidFill>
              <a:srgbClr val="E3E1D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9280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식량 배분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1832" y="2276856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10,235.1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60120" y="3136392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25696" y="160020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3F2F0"/>
          </a:solidFill>
          <a:ln w="12700">
            <a:solidFill>
              <a:srgbClr val="E3E1D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45736" y="189280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 치료식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27448" y="2276856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998.1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745736" y="3136392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톤  (식량 중)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11312" y="1600200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3F2F0"/>
          </a:solidFill>
          <a:ln w="12700">
            <a:solidFill>
              <a:srgbClr val="E3E1D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31352" y="189280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현금·교환권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13064" y="2276856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$5.1M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531352" y="3136392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≈ 68억원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33088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3F2F0"/>
          </a:solidFill>
          <a:ln w="12700">
            <a:solidFill>
              <a:srgbClr val="E3E1D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425696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자금 레버리지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" y="4809744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25.6배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60120" y="566928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기여 대비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25696" y="4133088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3F2F0"/>
          </a:solidFill>
          <a:ln w="12700">
            <a:solidFill>
              <a:srgbClr val="E3E1D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45736" y="4425696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사업비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27448" y="4809744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$25.8M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4745736" y="566928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≈ 343억원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11312" y="4133088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3F2F0"/>
          </a:solidFill>
          <a:ln w="12700">
            <a:solidFill>
              <a:srgbClr val="E3E1D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31352" y="4425696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규모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13064" y="4809744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13개국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8531352" y="566928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20개 사업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식량위기의 원인 · 영향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근본 원인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5508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아동에게 드리운 그늘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03704"/>
            <a:ext cx="201168" cy="201168"/>
          </a:xfrm>
          <a:prstGeom prst="ellipse">
            <a:avLst/>
          </a:prstGeom>
          <a:solidFill>
            <a:srgbClr val="FF551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75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분쟁 및 불안정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4144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콩고민주공화국·수단 등 장기 내전으로 대규모 난민 발생. 2025 주요 식량위기국 16개국 중 15개국이 분쟁 영향권.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529584"/>
            <a:ext cx="201168" cy="201168"/>
          </a:xfrm>
          <a:prstGeom prst="ellipse">
            <a:avLst/>
          </a:prstGeom>
          <a:solidFill>
            <a:srgbClr val="2D6CB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401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기후변화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76732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잦은 가뭄·홍수와 불규칙한 날씨가 흉작·농업 피해로 이어져 취약 지역의 식량 생산성을 직접 떨어뜨림.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855464"/>
            <a:ext cx="201168" cy="201168"/>
          </a:xfrm>
          <a:prstGeom prst="ellipse">
            <a:avLst/>
          </a:prstGeom>
          <a:solidFill>
            <a:srgbClr val="D85F1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7274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경제적 충격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09320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고물가·식량가격 폭등으로 구매력 붕괴. 배급량이 하루 권장 칼로리의 50% 미만으로 축소되기도 함.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2203704"/>
            <a:ext cx="201168" cy="201168"/>
          </a:xfrm>
          <a:prstGeom prst="ellipse">
            <a:avLst/>
          </a:prstGeom>
          <a:solidFill>
            <a:srgbClr val="C77E0A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075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교육의 중단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244144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끼니를 위해 학교 대신 노동으로 내몰리며 배움의 기회를 잃음.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3529584"/>
            <a:ext cx="201168" cy="20116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3401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조혼과 가족 분리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376732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배급이 삭감된 가구의 아동은 조혼·학업중단·가족분리 위험이 약 2배로 높아짐.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4855464"/>
            <a:ext cx="201168" cy="201168"/>
          </a:xfrm>
          <a:prstGeom prst="ellipse">
            <a:avLst/>
          </a:prstGeom>
          <a:solidFill>
            <a:srgbClr val="7A3E9D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7274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정신건강의 위기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509320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굶주림과 불안정한 환경 속에서 불안·우울 등 심리적 고통이 커짐.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WFP × World Vision 공동연구 「In the Shadow of Hunger」 (2026)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WHERE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국가별 배분 실적 · 13개국 20개 사업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2377440"/>
                <a:gridCol w="2377440"/>
                <a:gridCol w="237744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식량 (톤)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현금·교환권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치료식 (식량 중)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2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콩고민주공화국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3,797.0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151.1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3,322.1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$324K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52.8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아프가니스탄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829.3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$174K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65.7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에티오피아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695.8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695.8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우간다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505.0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$558K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베네수엘라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475.5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남수단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411.9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$539K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198.5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$16K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방글라데시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$1.89M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콜롬비아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$1.46M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중앙아프리카공화국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$87K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미얀마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$65K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0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케냐 (생계 역량 강화)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9C7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5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10,235.1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5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$5.1M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5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998.1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51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치료식 무게는 식량 배분량에 포함된 부분집합입니다.  ·  환율 1,330원/USD  ·  월드비전 기여분 누적 기준.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WHAT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활동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566928" cy="566928"/>
          </a:xfrm>
          <a:prstGeom prst="ellipse">
            <a:avLst/>
          </a:prstGeom>
          <a:solidFill>
            <a:srgbClr val="FF551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09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6550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일반식량 배분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208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분쟁·기후로 식량을 잃은 가정에 수수·콩·옥수수 등 현물 식량을 정기 배분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0" y="17647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2,100kcal 기준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17320" y="2496312"/>
            <a:ext cx="10149840" cy="0"/>
          </a:xfrm>
          <a:prstGeom prst="line">
            <a:avLst/>
          </a:prstGeom>
          <a:noFill/>
          <a:ln w="9525">
            <a:solidFill>
              <a:srgbClr val="E3E1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24328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243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25694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현금·교환권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9352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기능이 있는 지역에 현금·바우처를 지급해 수혜자가 직접 식량 구매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0" y="26791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 + 존엄성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417320" y="3410712"/>
            <a:ext cx="10149840" cy="0"/>
          </a:xfrm>
          <a:prstGeom prst="line">
            <a:avLst/>
          </a:prstGeom>
          <a:noFill/>
          <a:ln w="9525">
            <a:solidFill>
              <a:srgbClr val="E3E1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38728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38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4838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 치료식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8496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5세 미만 아동·임산부·수유부의 영양실조를 진단·치료 (플럼피넛 등 즉석 치료식)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0" y="35935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998.1톤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417320" y="4325112"/>
            <a:ext cx="10149840" cy="0"/>
          </a:xfrm>
          <a:prstGeom prst="line">
            <a:avLst/>
          </a:prstGeom>
          <a:noFill/>
          <a:ln w="9525">
            <a:solidFill>
              <a:srgbClr val="E3E1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453128"/>
            <a:ext cx="566928" cy="566928"/>
          </a:xfrm>
          <a:prstGeom prst="ellipse">
            <a:avLst/>
          </a:prstGeom>
          <a:solidFill>
            <a:srgbClr val="C77E0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53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17320" y="43982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급식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47640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출석 아동에게 급식을 제공해 영양과 출석률을 함께 향상, 텃밭·지역조달 병행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0" y="45079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77E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등록률 +9%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417320" y="5239512"/>
            <a:ext cx="10149840" cy="0"/>
          </a:xfrm>
          <a:prstGeom prst="line">
            <a:avLst/>
          </a:prstGeom>
          <a:noFill/>
          <a:ln w="9525">
            <a:solidFill>
              <a:srgbClr val="E3E1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367528"/>
            <a:ext cx="566928" cy="566928"/>
          </a:xfrm>
          <a:prstGeom prst="ellipse">
            <a:avLst/>
          </a:prstGeom>
          <a:solidFill>
            <a:srgbClr val="2F7D4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367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17320" y="53126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생계 역량 강화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17320" y="567842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마을저축그룹·작물보험·기후스마트농업으로 주민 주도의 자립 기반 마련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144000" y="54223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자립 지원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WHAT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배분 식량 구성 · 총 10,235.1톤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040880" y="178308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식탁에 오른 것들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옥수수·수수 등 곡물이 주력 열량원, 콩으로 단백질을 보충하고 영양실조 치료식으로 5세 미만·임산부를 집중 지원했습니다.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수입 의존도가 큰 밀 비중을 줄이고, 가뭄에 강하고 역내 조달이 쉬운 수수·옥수수 중심으로 전환했습니다.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040880" y="4800600"/>
            <a:ext cx="4526280" cy="1280160"/>
          </a:xfrm>
          <a:prstGeom prst="roundRect">
            <a:avLst>
              <a:gd name="adj" fmla="val 5714"/>
            </a:avLst>
          </a:prstGeom>
          <a:solidFill>
            <a:srgbClr val="F3F2F0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69480" y="50292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전년 대비 식량 배분량 약 70% 증가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6,018톤  →  2025년 10,235.1톤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성과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111222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D7D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자금 레버리지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25.6배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기여 12.9억원이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WFP 다자협력 사업 수입 $24.8M (≈330억원)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확장되었습니다.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대비 배분 집행률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263640" y="2194560"/>
          <a:ext cx="53949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400800" y="4709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 치료식은 누계 998.1톤 배분 (계획 목표 도달).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532120"/>
            <a:ext cx="10927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다자기구협력사업 특성상 사업 규모·일정은 글로벌 인도적지원 필요 상황, 도너(WFP) 자금 상황 및 식량 수급에 따라 변동될 수 있습니다.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 식량·현금 집행률이 약 50% 수준인 주요 사유 — ① 미국 USAID 폐지에 따른 사업 축소·중단, ② 수단·콩고민주공화국 등 분쟁 심화, ③ 수단 화이트나일 사업의 현지 정부 승인 지연.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GALLERY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현장의 기록</a:t>
            </a:r>
            <a:endParaRPr lang="en-US" sz="2600" dirty="0"/>
          </a:p>
        </p:txBody>
      </p:sp>
      <p:pic>
        <p:nvPicPr>
          <p:cNvPr id="4" name="Image 0" descr="C:/dev/food-crisis-dashboard/public/gallery/drc-southkiv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81328"/>
            <a:ext cx="5349240" cy="1874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41985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일반식량 배분   </a:t>
            </a:r>
            <a:pPr indent="0" marL="0">
              <a:buNone/>
            </a:pPr>
            <a:r>
              <a:rPr lang="en-US" sz="125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콩고민주공화국 · 남부 키부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3721608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World Vision · DR Congo 2025</a:t>
            </a:r>
            <a:endParaRPr lang="en-US" sz="950" dirty="0"/>
          </a:p>
        </p:txBody>
      </p:sp>
      <p:pic>
        <p:nvPicPr>
          <p:cNvPr id="7" name="Image 1" descr="C:/dev/food-crisis-dashboard/public/gallery/afghanistan-gho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2512" y="1481328"/>
            <a:ext cx="5349240" cy="1874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2512" y="341985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식량 배분   </a:t>
            </a:r>
            <a:pPr indent="0" marL="0">
              <a:buNone/>
            </a:pPr>
            <a:r>
              <a:rPr lang="en-US" sz="125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아프가니스탄 · 고르·바드기스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382512" y="3721608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World Vision · Afghanistan 2025</a:t>
            </a:r>
            <a:endParaRPr lang="en-US" sz="950" dirty="0"/>
          </a:p>
        </p:txBody>
      </p:sp>
      <p:pic>
        <p:nvPicPr>
          <p:cNvPr id="10" name="Image 2" descr="C:/dev/food-crisis-dashboard/public/gallery/ethiopia-tigr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4133088"/>
            <a:ext cx="5349240" cy="1874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" y="607161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 치료식   </a:t>
            </a:r>
            <a:pPr indent="0" marL="0">
              <a:buNone/>
            </a:pPr>
            <a:r>
              <a:rPr lang="en-US" sz="125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에티오피아 · 티그라이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40080" y="6373368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World Vision · Ethiopia 2025</a:t>
            </a:r>
            <a:endParaRPr lang="en-US" sz="950" dirty="0"/>
          </a:p>
        </p:txBody>
      </p:sp>
      <p:pic>
        <p:nvPicPr>
          <p:cNvPr id="13" name="Image 3" descr="C:/dev/food-crisis-dashboard/public/gallery/bangladesh-coxsbaza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82512" y="4133088"/>
            <a:ext cx="5349240" cy="18745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82512" y="607161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현금·교환권   </a:t>
            </a:r>
            <a:pPr indent="0" marL="0">
              <a:buNone/>
            </a:pPr>
            <a:r>
              <a:rPr lang="en-US" sz="1250" b="1" dirty="0">
                <a:solidFill>
                  <a:srgbClr val="111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방글라데시 · 콕스바자르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382512" y="6373368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World Vision · Bangladesh 2025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SOURCES &amp; NOTICE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·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98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ADA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Hunger Hotspots (WFP &amp; FAO, 2025)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ADA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「In the Shadow of Hunger」 (WFP &amp; World Vision, 2026)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ADA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수치는 제안서(2025.03), 배분 실적은 2025.1~12 누적 기준 · 환율 1,330원/USD · 월드비전 기여분 기준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ADA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월드비전 인도적지원팀 조항빈 · hangbin_cho@worldvision.or.kr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5623560"/>
            <a:ext cx="10698480" cy="0"/>
          </a:xfrm>
          <a:prstGeom prst="line">
            <a:avLst/>
          </a:prstGeom>
          <a:noFill/>
          <a:ln w="12700">
            <a:solidFill>
              <a:srgbClr val="3A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World Vision · 본 보고서 내 담긴 사진 및 영상에 대한 모든 저작권은 월드비전에 있으며, 무단 도용 및 배포를 금합니다.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5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WORLD VISION  ✕  WFP   ·   2025 글로벌 식량위기 대응사업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글로벌 식량위기 대응사업 — 최종 결과보고</dc:title>
  <dc:subject>PptxGenJS Presentation</dc:subject>
  <dc:creator>월드비전 인도적지원팀</dc:creator>
  <cp:lastModifiedBy>월드비전 인도적지원팀</cp:lastModifiedBy>
  <cp:revision>1</cp:revision>
  <dcterms:created xsi:type="dcterms:W3CDTF">2026-06-24T13:04:35Z</dcterms:created>
  <dcterms:modified xsi:type="dcterms:W3CDTF">2026-06-24T13:04:35Z</dcterms:modified>
</cp:coreProperties>
</file>